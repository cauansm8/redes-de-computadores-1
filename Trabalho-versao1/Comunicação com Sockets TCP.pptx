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6" r:id="rId5"/>
    <p:sldId id="284" r:id="rId6"/>
    <p:sldId id="290" r:id="rId7"/>
    <p:sldId id="277" r:id="rId8"/>
    <p:sldId id="292" r:id="rId9"/>
    <p:sldId id="262" r:id="rId10"/>
    <p:sldId id="293" r:id="rId11"/>
    <p:sldId id="294" r:id="rId12"/>
    <p:sldId id="295" r:id="rId13"/>
    <p:sldId id="296" r:id="rId14"/>
    <p:sldId id="297" r:id="rId15"/>
    <p:sldId id="289" r:id="rId16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91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CFE3099-591D-45A7-A51D-7A26F574396C}" type="datetime1">
              <a:rPr lang="pt-BR" smtClean="0"/>
              <a:t>28/03/2026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12B0B-086E-405E-B6A3-A336C302B6B7}" type="datetime1">
              <a:rPr lang="pt-BR" smtClean="0"/>
              <a:pPr/>
              <a:t>28/03/2026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0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3609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14B8E-80A6-4DEF-5CBC-AA993EC9E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B3702C3-D93A-8594-8796-12201CE85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0922F8E-9523-BC25-3CED-7C34034BF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17803B-47DB-6E0E-476A-B74AFAFA6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8779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26747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185F3-BFC9-28B1-1696-BA5CFF3E8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5115C0F-B536-0C5A-BBF0-1965AFBF0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89C4AC-D405-D5FD-74A8-46F940EDDE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C5325BA-B7CB-595D-6A89-EDD35137EF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5659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8454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FA7C-8A6D-7A7C-357E-082107436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5413B6-7B61-50EC-8E42-FB6332225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F1CD61-5085-80DB-CEF9-84B3FDBAF0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56E10A-A306-E411-CE44-45C18C1D9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5150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DA47B4-EF42-7927-6D1F-A9B637A2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863A1E-2387-6B39-DA8C-A999F619B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7B4607E-7B85-59A5-5F82-37F1C63AC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1A7471-A384-46B5-8D04-957E8AB55C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868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82D60-7FB5-0126-643A-467AEC92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E94188-2FC2-1BE8-4D71-935076AF4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6DA2410-164A-D9A2-40F0-F5930AF2D4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2DF64E-61EF-F0C1-285C-15FA29003D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2246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DA655-22D0-1A6E-8113-34B57C6A9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91F09AC-AE24-3A70-FA41-6CDB77CBC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8513261-F7E2-D876-D391-40BC2864A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403807-E4FB-CA7F-F4EE-312D5B199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7303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2A213-71F6-5EC1-CBC0-9751D0EB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41499E2-1399-02EE-E876-2D0E820477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FFE0E9-4A46-89EE-DD3C-3AC593D8C6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29183D3-DBF0-F8B1-CE9E-A3580E4B97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658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noProof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1183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1" name="Espaço Reservado para Data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22" name="Espaço Reservado para Rodapé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23" name="Espaço Reservado para o Número do Slide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dois conteúdo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pt-BR" noProof="0"/>
              <a:t>Clique para editar o texto Mestre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4" name="Espaço Reservado para Data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15" name="Espaço Reservado para Rodapé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16" name="Espaço Reservado para o Número do Slide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quatro conteúdo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4" name="Espaço Reservado para Conteúdo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5" name="Espaço Reservado para Conteúdo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7" name="Espaço Reservado para Conteúdo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9" name="Espaço Reservado para Conteúdo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0" name="Espaço Reservado para Conteúdo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21" name="Espaço Reservado para Data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22" name="Espaço Reservado para Rodapé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23" name="Espaço Reservado para o Número do Slide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 do painel do lado esquerd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4" name="Espaço Reservado para Data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5" name="Espaço Reservado para Rodapé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16" name="Espaço Reservado para o Número do Slide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linhe o texto centrado com a borda no topo da págin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7" name="Espaço Reservado para o Número do Slide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lizar o text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8" name="Espaço Reservado para Data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9" name="Espaço Reservado para Rodapé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10" name="Espaço Reservado para o Número do Slide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ro conteúdo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1</a:t>
            </a:r>
          </a:p>
        </p:txBody>
      </p:sp>
      <p:sp>
        <p:nvSpPr>
          <p:cNvPr id="11" name="Espaço Reservado para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2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3</a:t>
            </a:r>
          </a:p>
        </p:txBody>
      </p:sp>
      <p:sp>
        <p:nvSpPr>
          <p:cNvPr id="15" name="Espaço Reservado para Texto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4</a:t>
            </a:r>
          </a:p>
        </p:txBody>
      </p:sp>
      <p:sp>
        <p:nvSpPr>
          <p:cNvPr id="21" name="Espaço Reservado para a imagem on-line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2" name="Espaço Reservado para a imagem on-line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3" name="Espaço Reservado para a imagem on-line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4" name="Espaço Reservado para a imagem on-line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5" name="Espaço Reservado para Data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26" name="Espaço Reservado para Rodapé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27" name="Espaço Reservado para o Número do Slide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quatro imagen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1</a:t>
            </a:r>
          </a:p>
        </p:txBody>
      </p:sp>
      <p:sp>
        <p:nvSpPr>
          <p:cNvPr id="11" name="Espaço Reservado para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2</a:t>
            </a:r>
          </a:p>
        </p:txBody>
      </p:sp>
      <p:sp>
        <p:nvSpPr>
          <p:cNvPr id="13" name="Espaço Reservado para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3</a:t>
            </a:r>
          </a:p>
        </p:txBody>
      </p:sp>
      <p:sp>
        <p:nvSpPr>
          <p:cNvPr id="15" name="Espaço Reservado para Texto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4</a:t>
            </a:r>
          </a:p>
        </p:txBody>
      </p:sp>
      <p:sp>
        <p:nvSpPr>
          <p:cNvPr id="21" name="Espaço Reservado para a imagem on-line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2" name="Espaço Reservado para a imagem on-line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3" name="Espaço Reservado para a imagem on-line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24" name="Espaço Reservado para a imagem on-line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pt-BR" noProof="0"/>
              <a:t>Clique no ícone para adicionar uma imagem online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16" name="Espaço Reservado para Texto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1</a:t>
            </a:r>
          </a:p>
        </p:txBody>
      </p:sp>
      <p:sp>
        <p:nvSpPr>
          <p:cNvPr id="17" name="Espaço Reservado para Texto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2</a:t>
            </a:r>
          </a:p>
        </p:txBody>
      </p:sp>
      <p:sp>
        <p:nvSpPr>
          <p:cNvPr id="18" name="Espaço Reservado para Texto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3</a:t>
            </a:r>
          </a:p>
        </p:txBody>
      </p:sp>
      <p:sp>
        <p:nvSpPr>
          <p:cNvPr id="19" name="Espaço Reservado para Texto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Marcador 4</a:t>
            </a:r>
          </a:p>
        </p:txBody>
      </p:sp>
      <p:sp>
        <p:nvSpPr>
          <p:cNvPr id="28" name="Espaço Reservado para Texto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30" name="Espaço Reservado para Data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31" name="Espaço Reservado para Rodapé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32" name="Espaço Reservado para o Número do Slide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ogram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4" name="Espaço Reservado para Texto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16" name="Espaço Reservado para Texto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7" name="Espaço Reservado para Texto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18" name="Espaço Reservado para Texto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9" name="Espaço Reservado para Texto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0" name="Espaço Reservado para Texto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5" name="Espaço Reservado para Texto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6" name="Espaço Reservado para Texto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7" name="Espaço Reservado para Texto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8" name="Espaço Reservado para Texto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9" name="Espaço Reservado para Texto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Espaço Reservado para Data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42" name="Espaço Reservado para Rodapé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43" name="Espaço Reservado para o Número do Slide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  <p:cxnSp>
        <p:nvCxnSpPr>
          <p:cNvPr id="47" name="Conector Reto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to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 no painel do lado direit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pt-BR" noProof="0"/>
              <a:t>Clique para editar o texto Mestre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7" name="Espaço Reservado para Data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8" name="Espaço Reservado para Rodapé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10" name="Espaço Reservado para o Número do Slide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encerrament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beçalho de seçã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a equip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6" name="Espaço Reservado para Imagem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pt-BR" noProof="0"/>
              <a:t>Clique no ícone para adicionar uma imagem</a:t>
            </a:r>
          </a:p>
        </p:txBody>
      </p:sp>
      <p:sp>
        <p:nvSpPr>
          <p:cNvPr id="7" name="Espaço Reservado para Imagem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pt-BR" noProof="0"/>
              <a:t>Clique no ícone para adicionar uma imagem</a:t>
            </a:r>
          </a:p>
        </p:txBody>
      </p:sp>
      <p:sp>
        <p:nvSpPr>
          <p:cNvPr id="8" name="Espaço Reservado para Imagem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pt-BR" noProof="0"/>
              <a:t>Clique no ícone para adicionar uma imagem</a:t>
            </a:r>
          </a:p>
        </p:txBody>
      </p:sp>
      <p:sp>
        <p:nvSpPr>
          <p:cNvPr id="9" name="Espaço Reservado para Imagem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pt-BR" noProof="0"/>
              <a:t>Clique no ícone para adicionar uma imagem</a:t>
            </a:r>
          </a:p>
        </p:txBody>
      </p:sp>
      <p:sp>
        <p:nvSpPr>
          <p:cNvPr id="11" name="Espaço Reservado para Texto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2" name="Espaço Reservado para Texto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16" name="Espaço Reservado para Texto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17" name="Espaço Reservado para Texto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19" name="Espaço Reservado para Texto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0" name="Espaço Reservado para Texto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2" name="Espaço Reservado para Texto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Nome</a:t>
            </a:r>
          </a:p>
        </p:txBody>
      </p:sp>
      <p:sp>
        <p:nvSpPr>
          <p:cNvPr id="23" name="Espaço Reservado para Texto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pt-BR" noProof="0"/>
              <a:t>Título</a:t>
            </a:r>
          </a:p>
        </p:txBody>
      </p:sp>
      <p:sp>
        <p:nvSpPr>
          <p:cNvPr id="24" name="Espaço Reservado para Data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25" name="Espaço Reservado para Rodapé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26" name="Espaço Reservado para o Número do Slide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pPr rtl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/>
              <a:t>Clique para editar o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29/7/20XX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 noProof="0"/>
              <a:t>Orientações para os funcionários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65970"/>
            <a:ext cx="5739882" cy="2387600"/>
          </a:xfrm>
        </p:spPr>
        <p:txBody>
          <a:bodyPr rtlCol="0"/>
          <a:lstStyle/>
          <a:p>
            <a:pPr rtl="0"/>
            <a:r>
              <a:rPr lang="pt-BR" dirty="0"/>
              <a:t>Comunicação com Sockets TCP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/>
          <a:p>
            <a:pPr rtl="0"/>
            <a:r>
              <a:rPr lang="pt-BR" dirty="0"/>
              <a:t>Cauan Simões da Silva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/>
          <a:lstStyle/>
          <a:p>
            <a:pPr rtl="0"/>
            <a:r>
              <a:rPr lang="pt-BR" dirty="0"/>
              <a:t>Socket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156583"/>
            <a:ext cx="5684520" cy="318103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dirty="0"/>
              <a:t>Definição: é uma interface de software que permite que um processo envie e receba a mensagens para a rede.</a:t>
            </a:r>
          </a:p>
          <a:p>
            <a:pPr rtl="0"/>
            <a:r>
              <a:rPr lang="pt-BR" dirty="0"/>
              <a:t>Analogia: o socket é o portão de casa e os processos são as pessoas em cada lado do portão. Toda conversa (mensagem) passa pelo portão.</a:t>
            </a:r>
          </a:p>
          <a:p>
            <a:pPr rtl="0"/>
            <a:r>
              <a:rPr lang="pt-BR" dirty="0"/>
              <a:t>Também chamado de interface de programação da aplicação – é a interface de programação pela qual as aplicações de rede são criadas. </a:t>
            </a:r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D8BF3-79DF-44EC-D0C0-D3EE47B7B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BDFB79-EF7C-82BE-C379-DA9589F26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/>
          <a:lstStyle/>
          <a:p>
            <a:pPr rtl="0"/>
            <a:r>
              <a:rPr lang="pt-BR" dirty="0"/>
              <a:t>Servidor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4F74EE-4214-48DE-7F05-12BF7D771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147888"/>
            <a:ext cx="5684520" cy="18368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pt-BR" dirty="0"/>
              <a:t>O servidor é um sistema final (hospedeiro). </a:t>
            </a:r>
          </a:p>
          <a:p>
            <a:pPr rtl="0"/>
            <a:r>
              <a:rPr lang="pt-BR" dirty="0"/>
              <a:t>Informalmente, o servidor é uma máquina poderosa, que consegue armazenar e distribuir páginas Web, vídeo, enviar e-mails, dentre outras. Ou seja, fornece recursos ao cliente.</a:t>
            </a:r>
          </a:p>
          <a:p>
            <a:pPr rtl="0"/>
            <a:r>
              <a:rPr lang="pt-BR" dirty="0"/>
              <a:t>Nesse trabalho, o servidor é a próprio computador.</a:t>
            </a:r>
          </a:p>
          <a:p>
            <a:pPr rtl="0"/>
            <a:endParaRPr lang="pt-BR" dirty="0"/>
          </a:p>
        </p:txBody>
      </p:sp>
      <p:sp>
        <p:nvSpPr>
          <p:cNvPr id="14" name="Espaço Reservado para o Número do Slide 13">
            <a:extLst>
              <a:ext uri="{FF2B5EF4-FFF2-40B4-BE49-F238E27FC236}">
                <a16:creationId xmlns:a16="http://schemas.microsoft.com/office/drawing/2014/main" id="{48149197-C066-8416-74BD-AE2E89289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D2DDF4B-55D3-279E-9C1E-BB7C00EC3509}"/>
              </a:ext>
            </a:extLst>
          </p:cNvPr>
          <p:cNvSpPr txBox="1">
            <a:spLocks/>
          </p:cNvSpPr>
          <p:nvPr/>
        </p:nvSpPr>
        <p:spPr>
          <a:xfrm>
            <a:off x="5669280" y="3984771"/>
            <a:ext cx="5684520" cy="79865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Cliente</a:t>
            </a:r>
          </a:p>
        </p:txBody>
      </p:sp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AB00BE21-4BC2-5598-729C-BD17DB2312AB}"/>
              </a:ext>
            </a:extLst>
          </p:cNvPr>
          <p:cNvSpPr txBox="1">
            <a:spLocks/>
          </p:cNvSpPr>
          <p:nvPr/>
        </p:nvSpPr>
        <p:spPr>
          <a:xfrm>
            <a:off x="5669280" y="4783429"/>
            <a:ext cx="5684520" cy="193804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O cliente, assim como o servidor, é um sistema final (hospedeiro).</a:t>
            </a:r>
          </a:p>
          <a:p>
            <a:r>
              <a:rPr lang="pt-BR" dirty="0"/>
              <a:t>Informalmente, os clientes são computadores, celulares, dentre outros dispositivos.</a:t>
            </a:r>
          </a:p>
          <a:p>
            <a:r>
              <a:rPr lang="pt-BR" dirty="0"/>
              <a:t>Nesse trabalho, o cliente é o computador (assim como o servidor).</a:t>
            </a:r>
          </a:p>
        </p:txBody>
      </p:sp>
    </p:spTree>
    <p:extLst>
      <p:ext uri="{BB962C8B-B14F-4D97-AF65-F5344CB8AC3E}">
        <p14:creationId xmlns:p14="http://schemas.microsoft.com/office/powerpoint/2010/main" val="2977734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992" y="307636"/>
            <a:ext cx="10352015" cy="787128"/>
          </a:xfrm>
        </p:spPr>
        <p:txBody>
          <a:bodyPr rtlCol="0">
            <a:normAutofit/>
          </a:bodyPr>
          <a:lstStyle/>
          <a:p>
            <a:pPr rtl="0"/>
            <a:r>
              <a:rPr lang="pt-BR" dirty="0"/>
              <a:t>Criando Socket e Conexão (Python)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834" y="4394243"/>
            <a:ext cx="5838147" cy="232723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pt-BR" sz="1700" dirty="0"/>
          </a:p>
          <a:p>
            <a:pPr algn="l"/>
            <a:r>
              <a:rPr lang="pt-BR" sz="1700" dirty="0"/>
              <a:t>Após a criação do Socket, o servidor aguarda conexão de algum cliente.</a:t>
            </a:r>
          </a:p>
          <a:p>
            <a:pPr algn="l"/>
            <a:r>
              <a:rPr lang="pt-BR" sz="1700" dirty="0"/>
              <a:t>O comando </a:t>
            </a:r>
            <a:r>
              <a:rPr lang="pt-BR" sz="1700" i="1" dirty="0" err="1"/>
              <a:t>setsockopt</a:t>
            </a:r>
            <a:r>
              <a:rPr lang="pt-BR" sz="1700" i="1" dirty="0"/>
              <a:t>(…) </a:t>
            </a:r>
            <a:r>
              <a:rPr lang="pt-BR" sz="1700" dirty="0"/>
              <a:t> evita mensagens como “</a:t>
            </a:r>
            <a:r>
              <a:rPr lang="pt-BR" sz="1700" dirty="0" err="1"/>
              <a:t>Address</a:t>
            </a:r>
            <a:r>
              <a:rPr lang="pt-BR" sz="1700" dirty="0"/>
              <a:t> </a:t>
            </a:r>
            <a:r>
              <a:rPr lang="pt-BR" sz="1700" dirty="0" err="1"/>
              <a:t>already</a:t>
            </a:r>
            <a:r>
              <a:rPr lang="pt-BR" sz="1700" dirty="0"/>
              <a:t> in use”.</a:t>
            </a:r>
          </a:p>
          <a:p>
            <a:pPr algn="l"/>
            <a:r>
              <a:rPr lang="pt-BR" sz="1700" dirty="0"/>
              <a:t>O comando </a:t>
            </a:r>
            <a:r>
              <a:rPr lang="pt-BR" sz="1700" i="1" dirty="0" err="1"/>
              <a:t>listen</a:t>
            </a:r>
            <a:r>
              <a:rPr lang="pt-BR" sz="1700" i="1" dirty="0"/>
              <a:t>(2)</a:t>
            </a:r>
            <a:r>
              <a:rPr lang="pt-BR" sz="1700" dirty="0"/>
              <a:t> define quantas conexões podem ficar na fila.</a:t>
            </a:r>
          </a:p>
          <a:p>
            <a:pPr algn="l"/>
            <a:endParaRPr lang="pt-BR" dirty="0"/>
          </a:p>
          <a:p>
            <a:pPr algn="l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4</a:t>
            </a:fld>
            <a:endParaRPr lang="pt-BR"/>
          </a:p>
        </p:txBody>
      </p:sp>
      <p:sp>
        <p:nvSpPr>
          <p:cNvPr id="14" name="Subtítulo 2">
            <a:extLst>
              <a:ext uri="{FF2B5EF4-FFF2-40B4-BE49-F238E27FC236}">
                <a16:creationId xmlns:a16="http://schemas.microsoft.com/office/drawing/2014/main" id="{D7551FD0-8A02-0602-95E4-BFB5580F6108}"/>
              </a:ext>
            </a:extLst>
          </p:cNvPr>
          <p:cNvSpPr txBox="1">
            <a:spLocks/>
          </p:cNvSpPr>
          <p:nvPr/>
        </p:nvSpPr>
        <p:spPr>
          <a:xfrm>
            <a:off x="6233021" y="4394244"/>
            <a:ext cx="5546799" cy="215612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accent4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700" dirty="0"/>
          </a:p>
          <a:p>
            <a:pPr algn="l"/>
            <a:r>
              <a:rPr lang="pt-BR" sz="1700" dirty="0"/>
              <a:t>Aqui a conexão entre cliente-servidor é estabelecida.</a:t>
            </a:r>
          </a:p>
          <a:p>
            <a:pPr algn="l"/>
            <a:r>
              <a:rPr lang="pt-BR" sz="1700" dirty="0"/>
              <a:t>AF_NET: IPv4.</a:t>
            </a:r>
          </a:p>
          <a:p>
            <a:pPr algn="l"/>
            <a:r>
              <a:rPr lang="pt-BR" sz="1700" dirty="0"/>
              <a:t>SOCK_STREAM: TCP.</a:t>
            </a:r>
          </a:p>
          <a:p>
            <a:pPr algn="l"/>
            <a:endParaRPr lang="pt-BR" sz="17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BA11F24-F921-3FE1-518C-1B6210555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35" y="1094764"/>
            <a:ext cx="11948929" cy="324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4FB2-0A17-79A4-2CBF-51BF7087E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133784AD-982A-B45E-A395-9C176EAF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pt-BR" smtClean="0"/>
              <a:pPr rtl="0"/>
              <a:t>5</a:t>
            </a:fld>
            <a:endParaRPr lang="pt-BR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746DD8C1-0ABE-7A96-AE16-185FD4A1C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426" y="222308"/>
            <a:ext cx="5823148" cy="787128"/>
          </a:xfrm>
        </p:spPr>
        <p:txBody>
          <a:bodyPr rtlCol="0">
            <a:normAutofit fontScale="90000"/>
          </a:bodyPr>
          <a:lstStyle/>
          <a:p>
            <a:r>
              <a:rPr lang="pt-BR" dirty="0"/>
              <a:t>Comunicação (Python)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AC9C7046-D9DB-601F-340F-255FD67CA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4690"/>
            <a:ext cx="12192000" cy="3605161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24D3BACC-4443-578E-31FB-8A1FA6D37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87" y="4825105"/>
            <a:ext cx="12026425" cy="18963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endParaRPr lang="pt-BR" sz="1700" dirty="0"/>
          </a:p>
          <a:p>
            <a:r>
              <a:rPr lang="pt-BR" sz="1700" dirty="0"/>
              <a:t>Todas as mensagens que serão transmitidas devem estar em bytes, por isso deve-se usar </a:t>
            </a:r>
            <a:r>
              <a:rPr lang="pt-BR" sz="1700" i="1" dirty="0"/>
              <a:t>encode</a:t>
            </a:r>
            <a:r>
              <a:rPr lang="pt-BR" sz="1700" dirty="0"/>
              <a:t> e </a:t>
            </a:r>
            <a:r>
              <a:rPr lang="pt-BR" sz="1700" i="1" dirty="0" err="1"/>
              <a:t>decode</a:t>
            </a:r>
            <a:r>
              <a:rPr lang="pt-BR" sz="1700" dirty="0"/>
              <a:t>.</a:t>
            </a:r>
          </a:p>
          <a:p>
            <a:r>
              <a:rPr lang="pt-BR" sz="1700" dirty="0"/>
              <a:t>Além disso, se o cliente digitar ‘fim’, o servidor encerra conexão e dá continuidade na fila.</a:t>
            </a:r>
          </a:p>
          <a:p>
            <a:r>
              <a:rPr lang="pt-BR" sz="1700" dirty="0"/>
              <a:t>O </a:t>
            </a:r>
            <a:r>
              <a:rPr lang="pt-BR" sz="1700" i="1" dirty="0"/>
              <a:t>1024 </a:t>
            </a:r>
            <a:r>
              <a:rPr lang="pt-BR" sz="1700" dirty="0"/>
              <a:t> em </a:t>
            </a:r>
            <a:r>
              <a:rPr lang="pt-BR" sz="1700" i="1" dirty="0" err="1"/>
              <a:t>recv</a:t>
            </a:r>
            <a:r>
              <a:rPr lang="pt-BR" sz="1700" dirty="0"/>
              <a:t> indica o tamanho do </a:t>
            </a:r>
            <a:r>
              <a:rPr lang="pt-BR" sz="1700" i="1" dirty="0"/>
              <a:t>buffer</a:t>
            </a:r>
            <a:r>
              <a:rPr lang="pt-BR" sz="1700" dirty="0"/>
              <a:t>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9347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Na Prática (conexão)</a:t>
            </a:r>
          </a:p>
        </p:txBody>
      </p:sp>
      <p:sp>
        <p:nvSpPr>
          <p:cNvPr id="115" name="Espaço Reservado para o Número do Slide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6</a:t>
            </a:fld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89A893B1-CB79-1616-3DEA-5ABEB994B2F9}"/>
              </a:ext>
            </a:extLst>
          </p:cNvPr>
          <p:cNvSpPr txBox="1">
            <a:spLocks/>
          </p:cNvSpPr>
          <p:nvPr/>
        </p:nvSpPr>
        <p:spPr>
          <a:xfrm>
            <a:off x="142168" y="2002971"/>
            <a:ext cx="3341262" cy="766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Servidor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8F794E7B-C9D7-5AAC-4D25-3634F27F62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68" y="2769326"/>
            <a:ext cx="5554205" cy="1962083"/>
          </a:xfrm>
          <a:prstGeom prst="rect">
            <a:avLst/>
          </a:prstGeom>
        </p:spPr>
      </p:pic>
      <p:sp>
        <p:nvSpPr>
          <p:cNvPr id="36" name="Título 1">
            <a:extLst>
              <a:ext uri="{FF2B5EF4-FFF2-40B4-BE49-F238E27FC236}">
                <a16:creationId xmlns:a16="http://schemas.microsoft.com/office/drawing/2014/main" id="{40766320-ED12-7DC3-FB84-31A1ADC22242}"/>
              </a:ext>
            </a:extLst>
          </p:cNvPr>
          <p:cNvSpPr txBox="1">
            <a:spLocks/>
          </p:cNvSpPr>
          <p:nvPr/>
        </p:nvSpPr>
        <p:spPr>
          <a:xfrm>
            <a:off x="8708570" y="2002971"/>
            <a:ext cx="3341262" cy="85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Cliente (1)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38" name="Imagem 37">
            <a:extLst>
              <a:ext uri="{FF2B5EF4-FFF2-40B4-BE49-F238E27FC236}">
                <a16:creationId xmlns:a16="http://schemas.microsoft.com/office/drawing/2014/main" id="{A6BA3887-C254-AD71-DA77-2CD7116D3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769326"/>
            <a:ext cx="6026331" cy="1706380"/>
          </a:xfrm>
          <a:prstGeom prst="rect">
            <a:avLst/>
          </a:prstGeom>
        </p:spPr>
      </p:pic>
      <p:sp>
        <p:nvSpPr>
          <p:cNvPr id="40" name="Subtítulo 2">
            <a:extLst>
              <a:ext uri="{FF2B5EF4-FFF2-40B4-BE49-F238E27FC236}">
                <a16:creationId xmlns:a16="http://schemas.microsoft.com/office/drawing/2014/main" id="{AC5EFA63-1180-0289-748B-AF21330C3203}"/>
              </a:ext>
            </a:extLst>
          </p:cNvPr>
          <p:cNvSpPr txBox="1">
            <a:spLocks/>
          </p:cNvSpPr>
          <p:nvPr/>
        </p:nvSpPr>
        <p:spPr>
          <a:xfrm>
            <a:off x="85009" y="4827976"/>
            <a:ext cx="5279868" cy="13395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700" dirty="0"/>
          </a:p>
          <a:p>
            <a:pPr marL="0" indent="0">
              <a:buNone/>
            </a:pPr>
            <a:r>
              <a:rPr lang="pt-BR" sz="2000" dirty="0"/>
              <a:t>1 - O servidor iniciou.</a:t>
            </a:r>
            <a:endParaRPr lang="pt-BR" dirty="0"/>
          </a:p>
          <a:p>
            <a:endParaRPr lang="pt-BR" dirty="0"/>
          </a:p>
        </p:txBody>
      </p:sp>
      <p:sp>
        <p:nvSpPr>
          <p:cNvPr id="41" name="Subtítulo 2">
            <a:extLst>
              <a:ext uri="{FF2B5EF4-FFF2-40B4-BE49-F238E27FC236}">
                <a16:creationId xmlns:a16="http://schemas.microsoft.com/office/drawing/2014/main" id="{F78F22AD-BAFF-3DCE-2FFC-61F27F9D27D4}"/>
              </a:ext>
            </a:extLst>
          </p:cNvPr>
          <p:cNvSpPr txBox="1">
            <a:spLocks/>
          </p:cNvSpPr>
          <p:nvPr/>
        </p:nvSpPr>
        <p:spPr>
          <a:xfrm>
            <a:off x="6827123" y="4862810"/>
            <a:ext cx="5279868" cy="1269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700" dirty="0"/>
          </a:p>
          <a:p>
            <a:pPr marL="0" indent="0">
              <a:buNone/>
            </a:pPr>
            <a:r>
              <a:rPr lang="pt-BR" sz="2000" dirty="0"/>
              <a:t>2 - O cliente se conectou ao servidor.</a:t>
            </a:r>
            <a:endParaRPr lang="pt-BR" dirty="0"/>
          </a:p>
          <a:p>
            <a:endParaRPr lang="pt-BR" dirty="0"/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8EF70D1B-0883-6E7C-428C-886F99D92C1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719" b="-2166"/>
          <a:stretch>
            <a:fillRect/>
          </a:stretch>
        </p:blipFill>
        <p:spPr>
          <a:xfrm>
            <a:off x="142168" y="6167552"/>
            <a:ext cx="5258533" cy="44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8D980-823B-4EA5-C481-50D9A684A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A081B-A198-9CF5-4D5D-346DE676F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Na Prática (troca de mensagens)</a:t>
            </a:r>
          </a:p>
        </p:txBody>
      </p:sp>
      <p:sp>
        <p:nvSpPr>
          <p:cNvPr id="115" name="Espaço Reservado para o Número do Slide 114">
            <a:extLst>
              <a:ext uri="{FF2B5EF4-FFF2-40B4-BE49-F238E27FC236}">
                <a16:creationId xmlns:a16="http://schemas.microsoft.com/office/drawing/2014/main" id="{44E466A7-689D-6712-7B93-9C6FFFFED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7</a:t>
            </a:fld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EEB92DAB-4705-8A99-4EA5-AE03375E1CF8}"/>
              </a:ext>
            </a:extLst>
          </p:cNvPr>
          <p:cNvSpPr txBox="1">
            <a:spLocks/>
          </p:cNvSpPr>
          <p:nvPr/>
        </p:nvSpPr>
        <p:spPr>
          <a:xfrm>
            <a:off x="142168" y="2002971"/>
            <a:ext cx="3341262" cy="766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Servidor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C0965AEA-FCFB-7402-3BF8-E5ACEA9B5A1E}"/>
              </a:ext>
            </a:extLst>
          </p:cNvPr>
          <p:cNvSpPr txBox="1">
            <a:spLocks/>
          </p:cNvSpPr>
          <p:nvPr/>
        </p:nvSpPr>
        <p:spPr>
          <a:xfrm>
            <a:off x="8708570" y="2002971"/>
            <a:ext cx="3341262" cy="85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Cliente (1)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Subtítulo 2">
            <a:extLst>
              <a:ext uri="{FF2B5EF4-FFF2-40B4-BE49-F238E27FC236}">
                <a16:creationId xmlns:a16="http://schemas.microsoft.com/office/drawing/2014/main" id="{36480050-629F-88B8-2799-2FB9FF0836C1}"/>
              </a:ext>
            </a:extLst>
          </p:cNvPr>
          <p:cNvSpPr txBox="1">
            <a:spLocks/>
          </p:cNvSpPr>
          <p:nvPr/>
        </p:nvSpPr>
        <p:spPr>
          <a:xfrm>
            <a:off x="85009" y="3823549"/>
            <a:ext cx="5279868" cy="303445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700" dirty="0"/>
          </a:p>
          <a:p>
            <a:pPr marL="0" indent="0">
              <a:buNone/>
            </a:pPr>
            <a:r>
              <a:rPr lang="pt-BR" sz="2000" dirty="0"/>
              <a:t>4 – O servidor recebe a mensagem e transforma para utf-8.</a:t>
            </a:r>
          </a:p>
          <a:p>
            <a:pPr marL="0" indent="0">
              <a:buNone/>
            </a:pPr>
            <a:r>
              <a:rPr lang="pt-BR" sz="2000" dirty="0"/>
              <a:t>5 – O servidor deixa a mensagem em maiúsculo.</a:t>
            </a:r>
          </a:p>
          <a:p>
            <a:pPr marL="0" indent="0">
              <a:buNone/>
            </a:pPr>
            <a:r>
              <a:rPr lang="pt-BR" sz="2000" dirty="0"/>
              <a:t>6 – O servidor retorna a mensagem em bytes para o cliente.</a:t>
            </a:r>
          </a:p>
          <a:p>
            <a:pPr marL="0" indent="0">
              <a:buNone/>
            </a:pPr>
            <a:r>
              <a:rPr lang="pt-BR" sz="2000" dirty="0"/>
              <a:t>7 – O servidor verifica se a mensagem é ‘FIM’ e, em caso positivo, encerra conexão com este cliente.</a:t>
            </a:r>
            <a:endParaRPr lang="pt-BR" dirty="0"/>
          </a:p>
          <a:p>
            <a:endParaRPr lang="pt-BR" dirty="0"/>
          </a:p>
        </p:txBody>
      </p:sp>
      <p:sp>
        <p:nvSpPr>
          <p:cNvPr id="41" name="Subtítulo 2">
            <a:extLst>
              <a:ext uri="{FF2B5EF4-FFF2-40B4-BE49-F238E27FC236}">
                <a16:creationId xmlns:a16="http://schemas.microsoft.com/office/drawing/2014/main" id="{6A35E417-A73E-AF83-F3E6-FA7429DC76C1}"/>
              </a:ext>
            </a:extLst>
          </p:cNvPr>
          <p:cNvSpPr txBox="1">
            <a:spLocks/>
          </p:cNvSpPr>
          <p:nvPr/>
        </p:nvSpPr>
        <p:spPr>
          <a:xfrm>
            <a:off x="6827123" y="4862810"/>
            <a:ext cx="5279868" cy="12699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700" dirty="0"/>
          </a:p>
          <a:p>
            <a:pPr marL="0" indent="0">
              <a:buNone/>
            </a:pPr>
            <a:r>
              <a:rPr lang="pt-BR" sz="2000" dirty="0"/>
              <a:t>3 - O cliente enviou ‘oi’.</a:t>
            </a:r>
          </a:p>
          <a:p>
            <a:pPr marL="0" indent="0">
              <a:buNone/>
            </a:pPr>
            <a:r>
              <a:rPr lang="pt-BR" sz="2000" dirty="0"/>
              <a:t>8 – O cliente recebeu do servidor “OI”. Pode enviar outra mensagem.</a:t>
            </a:r>
            <a:endParaRPr lang="pt-BR" dirty="0"/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4FA5D7B-BFEA-135D-E9EE-16968707F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123" y="2610069"/>
            <a:ext cx="5258534" cy="2029108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D13BBAF-6212-08F8-9209-2371A799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68" y="2744910"/>
            <a:ext cx="5353797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460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B96E-6768-1EF9-1C61-BCF92D94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16BCB-F3A4-69F0-D8E0-1B4B20C1C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Na Prática (bloqueio de cliente)</a:t>
            </a:r>
          </a:p>
        </p:txBody>
      </p:sp>
      <p:sp>
        <p:nvSpPr>
          <p:cNvPr id="115" name="Espaço Reservado para o Número do Slide 114">
            <a:extLst>
              <a:ext uri="{FF2B5EF4-FFF2-40B4-BE49-F238E27FC236}">
                <a16:creationId xmlns:a16="http://schemas.microsoft.com/office/drawing/2014/main" id="{4BBA11B8-8C88-B347-6ACF-B1FFF7356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8</a:t>
            </a:fld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47045D3E-B7E7-C919-FB68-B5B7C188F908}"/>
              </a:ext>
            </a:extLst>
          </p:cNvPr>
          <p:cNvSpPr txBox="1">
            <a:spLocks/>
          </p:cNvSpPr>
          <p:nvPr/>
        </p:nvSpPr>
        <p:spPr>
          <a:xfrm>
            <a:off x="142168" y="2002971"/>
            <a:ext cx="3341262" cy="766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Servidor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66910B3A-AA84-CAD6-02F3-9E0611945AE4}"/>
              </a:ext>
            </a:extLst>
          </p:cNvPr>
          <p:cNvSpPr txBox="1">
            <a:spLocks/>
          </p:cNvSpPr>
          <p:nvPr/>
        </p:nvSpPr>
        <p:spPr>
          <a:xfrm>
            <a:off x="8708570" y="2002971"/>
            <a:ext cx="3341262" cy="85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Cliente (2)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Subtítulo 2">
            <a:extLst>
              <a:ext uri="{FF2B5EF4-FFF2-40B4-BE49-F238E27FC236}">
                <a16:creationId xmlns:a16="http://schemas.microsoft.com/office/drawing/2014/main" id="{D4CBEC95-427D-DAFB-377F-0B9246C42CB5}"/>
              </a:ext>
            </a:extLst>
          </p:cNvPr>
          <p:cNvSpPr txBox="1">
            <a:spLocks/>
          </p:cNvSpPr>
          <p:nvPr/>
        </p:nvSpPr>
        <p:spPr>
          <a:xfrm>
            <a:off x="85009" y="5083727"/>
            <a:ext cx="5279868" cy="17742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10 – No terminal do servidor, a mensagem do segundo cliente não está sendo trabalhada, pois ainda está em conexão com outro cliente (não houve mudança no terminal).</a:t>
            </a:r>
          </a:p>
        </p:txBody>
      </p:sp>
      <p:sp>
        <p:nvSpPr>
          <p:cNvPr id="41" name="Subtítulo 2">
            <a:extLst>
              <a:ext uri="{FF2B5EF4-FFF2-40B4-BE49-F238E27FC236}">
                <a16:creationId xmlns:a16="http://schemas.microsoft.com/office/drawing/2014/main" id="{B3C56079-CD02-A853-7E15-B9F4DF982155}"/>
              </a:ext>
            </a:extLst>
          </p:cNvPr>
          <p:cNvSpPr txBox="1">
            <a:spLocks/>
          </p:cNvSpPr>
          <p:nvPr/>
        </p:nvSpPr>
        <p:spPr>
          <a:xfrm>
            <a:off x="6827123" y="5086443"/>
            <a:ext cx="5279868" cy="126990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9 – O segundo cliente se conecta e envia ‘</a:t>
            </a:r>
            <a:r>
              <a:rPr lang="pt-BR" sz="1900" dirty="0" err="1"/>
              <a:t>ola</a:t>
            </a:r>
            <a:r>
              <a:rPr lang="pt-BR" sz="1900" dirty="0"/>
              <a:t>’, mas o sistema parece “travado”.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FE52C5-48A5-9251-EB15-B52DAA638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09" y="2657795"/>
            <a:ext cx="5363323" cy="167663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5F1069B-ABEB-16BC-5D64-3B4159902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" y="2615868"/>
            <a:ext cx="5306165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760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F9F32-254F-89DF-24BB-2D895507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D60B9A-7F74-76BD-5F8A-0B57C2FA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Na Prática (fim de conexão)</a:t>
            </a:r>
          </a:p>
        </p:txBody>
      </p:sp>
      <p:sp>
        <p:nvSpPr>
          <p:cNvPr id="115" name="Espaço Reservado para o Número do Slide 114">
            <a:extLst>
              <a:ext uri="{FF2B5EF4-FFF2-40B4-BE49-F238E27FC236}">
                <a16:creationId xmlns:a16="http://schemas.microsoft.com/office/drawing/2014/main" id="{8751F58B-1D1E-170C-D371-380DF430E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9</a:t>
            </a:fld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1D4CD451-4FB7-787E-042B-1412D3A0E871}"/>
              </a:ext>
            </a:extLst>
          </p:cNvPr>
          <p:cNvSpPr txBox="1">
            <a:spLocks/>
          </p:cNvSpPr>
          <p:nvPr/>
        </p:nvSpPr>
        <p:spPr>
          <a:xfrm>
            <a:off x="142168" y="2002971"/>
            <a:ext cx="3341262" cy="766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Servidor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E1A1BC79-913E-907B-D5BA-DC8C8A759DD6}"/>
              </a:ext>
            </a:extLst>
          </p:cNvPr>
          <p:cNvSpPr txBox="1">
            <a:spLocks/>
          </p:cNvSpPr>
          <p:nvPr/>
        </p:nvSpPr>
        <p:spPr>
          <a:xfrm>
            <a:off x="8708570" y="2002971"/>
            <a:ext cx="3341262" cy="85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Cliente (1)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Subtítulo 2">
            <a:extLst>
              <a:ext uri="{FF2B5EF4-FFF2-40B4-BE49-F238E27FC236}">
                <a16:creationId xmlns:a16="http://schemas.microsoft.com/office/drawing/2014/main" id="{2E7DD156-0AEF-323E-BB87-B2817C35685F}"/>
              </a:ext>
            </a:extLst>
          </p:cNvPr>
          <p:cNvSpPr txBox="1">
            <a:spLocks/>
          </p:cNvSpPr>
          <p:nvPr/>
        </p:nvSpPr>
        <p:spPr>
          <a:xfrm>
            <a:off x="85009" y="5629013"/>
            <a:ext cx="5279868" cy="1228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12 – O servidor recebe a mensagem e retorna em maiúsculo para o cliente.</a:t>
            </a:r>
          </a:p>
          <a:p>
            <a:pPr marL="0" indent="0">
              <a:buNone/>
            </a:pPr>
            <a:r>
              <a:rPr lang="pt-BR" sz="1900" dirty="0"/>
              <a:t>13 – Encerra a conexão e libera a fila.</a:t>
            </a:r>
          </a:p>
        </p:txBody>
      </p:sp>
      <p:sp>
        <p:nvSpPr>
          <p:cNvPr id="41" name="Subtítulo 2">
            <a:extLst>
              <a:ext uri="{FF2B5EF4-FFF2-40B4-BE49-F238E27FC236}">
                <a16:creationId xmlns:a16="http://schemas.microsoft.com/office/drawing/2014/main" id="{91509BA1-C74E-944A-2449-86A1879A9B45}"/>
              </a:ext>
            </a:extLst>
          </p:cNvPr>
          <p:cNvSpPr txBox="1">
            <a:spLocks/>
          </p:cNvSpPr>
          <p:nvPr/>
        </p:nvSpPr>
        <p:spPr>
          <a:xfrm>
            <a:off x="6827123" y="5385732"/>
            <a:ext cx="5279868" cy="9706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11 – O cliente finaliza conexão enviando ‘fim’.</a:t>
            </a:r>
          </a:p>
          <a:p>
            <a:pPr marL="0" indent="0">
              <a:buNone/>
            </a:pPr>
            <a:endParaRPr lang="pt-BR" sz="19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218513-EFC0-A850-AC38-4D9A21A78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965" y="2604794"/>
            <a:ext cx="5182323" cy="275310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78416AD-06BC-9FA0-8B39-6C9CE8A82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" y="2604794"/>
            <a:ext cx="5382376" cy="2886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7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8A67-BCB3-5166-2ABD-E3480839D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A84D49-DA28-DD7D-1511-153451444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Na Prática (liberando fila)</a:t>
            </a:r>
          </a:p>
        </p:txBody>
      </p:sp>
      <p:sp>
        <p:nvSpPr>
          <p:cNvPr id="115" name="Espaço Reservado para o Número do Slide 114">
            <a:extLst>
              <a:ext uri="{FF2B5EF4-FFF2-40B4-BE49-F238E27FC236}">
                <a16:creationId xmlns:a16="http://schemas.microsoft.com/office/drawing/2014/main" id="{76DB3321-BC86-9E25-3D81-5A685528A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10</a:t>
            </a:fld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749129BD-E066-D570-C4CB-BC821CE8D02C}"/>
              </a:ext>
            </a:extLst>
          </p:cNvPr>
          <p:cNvSpPr txBox="1">
            <a:spLocks/>
          </p:cNvSpPr>
          <p:nvPr/>
        </p:nvSpPr>
        <p:spPr>
          <a:xfrm>
            <a:off x="142168" y="2002971"/>
            <a:ext cx="3341262" cy="766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Servidor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6" name="Título 1">
            <a:extLst>
              <a:ext uri="{FF2B5EF4-FFF2-40B4-BE49-F238E27FC236}">
                <a16:creationId xmlns:a16="http://schemas.microsoft.com/office/drawing/2014/main" id="{B98279E3-E206-66E5-D44D-FEF6D153EA63}"/>
              </a:ext>
            </a:extLst>
          </p:cNvPr>
          <p:cNvSpPr txBox="1">
            <a:spLocks/>
          </p:cNvSpPr>
          <p:nvPr/>
        </p:nvSpPr>
        <p:spPr>
          <a:xfrm>
            <a:off x="8708570" y="2002971"/>
            <a:ext cx="3341262" cy="85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Cliente (2)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40" name="Subtítulo 2">
            <a:extLst>
              <a:ext uri="{FF2B5EF4-FFF2-40B4-BE49-F238E27FC236}">
                <a16:creationId xmlns:a16="http://schemas.microsoft.com/office/drawing/2014/main" id="{BD15B68B-AB1B-3B25-34E0-8517150D8F56}"/>
              </a:ext>
            </a:extLst>
          </p:cNvPr>
          <p:cNvSpPr txBox="1">
            <a:spLocks/>
          </p:cNvSpPr>
          <p:nvPr/>
        </p:nvSpPr>
        <p:spPr>
          <a:xfrm>
            <a:off x="85009" y="5629013"/>
            <a:ext cx="5279868" cy="1228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14 – O servidor recebe a mensagem ‘</a:t>
            </a:r>
            <a:r>
              <a:rPr lang="pt-BR" sz="1900" dirty="0" err="1"/>
              <a:t>ola</a:t>
            </a:r>
            <a:r>
              <a:rPr lang="pt-BR" sz="1900" dirty="0"/>
              <a:t>’ e retorna em maiúsculo para o cliente.</a:t>
            </a:r>
          </a:p>
          <a:p>
            <a:pPr marL="0" indent="0">
              <a:buNone/>
            </a:pPr>
            <a:r>
              <a:rPr lang="pt-BR" sz="1900" dirty="0"/>
              <a:t>17 – Encerra a conexão e libera a fila.</a:t>
            </a:r>
          </a:p>
        </p:txBody>
      </p:sp>
      <p:sp>
        <p:nvSpPr>
          <p:cNvPr id="41" name="Subtítulo 2">
            <a:extLst>
              <a:ext uri="{FF2B5EF4-FFF2-40B4-BE49-F238E27FC236}">
                <a16:creationId xmlns:a16="http://schemas.microsoft.com/office/drawing/2014/main" id="{DB376DB6-A5E5-E670-4B64-1B79BD4366BC}"/>
              </a:ext>
            </a:extLst>
          </p:cNvPr>
          <p:cNvSpPr txBox="1">
            <a:spLocks/>
          </p:cNvSpPr>
          <p:nvPr/>
        </p:nvSpPr>
        <p:spPr>
          <a:xfrm>
            <a:off x="6827123" y="5522257"/>
            <a:ext cx="5279868" cy="13357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15 – O cliente recebe sua mensagem ‘OLA’ do servidor (após a desconexão do primeiro cliente).</a:t>
            </a:r>
          </a:p>
          <a:p>
            <a:pPr marL="0" indent="0">
              <a:buNone/>
            </a:pPr>
            <a:r>
              <a:rPr lang="pt-BR" sz="1900" dirty="0"/>
              <a:t>16 – O cliente finaliza conexão enviando ‘fim’.</a:t>
            </a:r>
          </a:p>
          <a:p>
            <a:pPr marL="0" indent="0">
              <a:buNone/>
            </a:pPr>
            <a:endParaRPr lang="pt-BR" sz="19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F0A1CC11-D78F-1734-B340-7D285EABCF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413"/>
          <a:stretch>
            <a:fillRect/>
          </a:stretch>
        </p:blipFill>
        <p:spPr>
          <a:xfrm>
            <a:off x="6781772" y="2661306"/>
            <a:ext cx="5268060" cy="1617079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B3FE03E1-7F8E-7015-3B42-A1494E6136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640"/>
          <a:stretch>
            <a:fillRect/>
          </a:stretch>
        </p:blipFill>
        <p:spPr>
          <a:xfrm>
            <a:off x="6781772" y="4412772"/>
            <a:ext cx="5268060" cy="104789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5CE8E1F-72EE-33A4-8554-EDD38A19A9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" r="1243" b="8425"/>
          <a:stretch>
            <a:fillRect/>
          </a:stretch>
        </p:blipFill>
        <p:spPr>
          <a:xfrm>
            <a:off x="142168" y="2722382"/>
            <a:ext cx="5296639" cy="706618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7E3B4BA-BFED-8099-4BAE-3C93A004A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168" y="4460694"/>
            <a:ext cx="5296639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201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8481-2F2E-0CE4-5092-C31FC925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F65C91-5C8D-EC93-625D-B360AA23F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rtl="0"/>
            <a:r>
              <a:rPr lang="pt-BR" dirty="0"/>
              <a:t>Na Prática (servidor esperando conexão)</a:t>
            </a:r>
          </a:p>
        </p:txBody>
      </p:sp>
      <p:sp>
        <p:nvSpPr>
          <p:cNvPr id="115" name="Espaço Reservado para o Número do Slide 114">
            <a:extLst>
              <a:ext uri="{FF2B5EF4-FFF2-40B4-BE49-F238E27FC236}">
                <a16:creationId xmlns:a16="http://schemas.microsoft.com/office/drawing/2014/main" id="{8AF9086D-6FE0-08F3-38A8-836CB2F9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11</a:t>
            </a:fld>
            <a:endParaRPr lang="pt-BR"/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2DB5F7FF-7F05-C280-29FF-449A3AA30222}"/>
              </a:ext>
            </a:extLst>
          </p:cNvPr>
          <p:cNvSpPr txBox="1">
            <a:spLocks/>
          </p:cNvSpPr>
          <p:nvPr/>
        </p:nvSpPr>
        <p:spPr>
          <a:xfrm>
            <a:off x="4425369" y="2030216"/>
            <a:ext cx="3341262" cy="7663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dirty="0">
                <a:solidFill>
                  <a:schemeClr val="tx1"/>
                </a:solidFill>
                <a:latin typeface="+mn-lt"/>
              </a:rPr>
              <a:t>Servidor</a:t>
            </a:r>
            <a:endParaRPr lang="pt-BR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D2D9F30-49FD-4A41-495B-9DF9CC26C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573" y="3080873"/>
            <a:ext cx="7756853" cy="1751548"/>
          </a:xfrm>
          <a:prstGeom prst="rect">
            <a:avLst/>
          </a:prstGeom>
        </p:spPr>
      </p:pic>
      <p:sp>
        <p:nvSpPr>
          <p:cNvPr id="5" name="Subtítulo 2">
            <a:extLst>
              <a:ext uri="{FF2B5EF4-FFF2-40B4-BE49-F238E27FC236}">
                <a16:creationId xmlns:a16="http://schemas.microsoft.com/office/drawing/2014/main" id="{4DE0EC96-1A23-F824-6C65-1810A1D492D2}"/>
              </a:ext>
            </a:extLst>
          </p:cNvPr>
          <p:cNvSpPr txBox="1">
            <a:spLocks/>
          </p:cNvSpPr>
          <p:nvPr/>
        </p:nvSpPr>
        <p:spPr>
          <a:xfrm>
            <a:off x="3163768" y="5116723"/>
            <a:ext cx="5279868" cy="12289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1900" dirty="0"/>
              <a:t>18 – O servidor aguarda algum cliente se conectar ou até ser desligado.</a:t>
            </a:r>
          </a:p>
        </p:txBody>
      </p:sp>
    </p:spTree>
    <p:extLst>
      <p:ext uri="{BB962C8B-B14F-4D97-AF65-F5344CB8AC3E}">
        <p14:creationId xmlns:p14="http://schemas.microsoft.com/office/powerpoint/2010/main" val="2034549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/>
          <a:lstStyle/>
          <a:p>
            <a:pPr rtl="0"/>
            <a:r>
              <a:rPr lang="pt-BR" dirty="0"/>
              <a:t>Obrigado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58854" y="1838986"/>
            <a:ext cx="5159229" cy="3180027"/>
          </a:xfrm>
        </p:spPr>
        <p:txBody>
          <a:bodyPr rtlCol="0">
            <a:noAutofit/>
          </a:bodyPr>
          <a:lstStyle/>
          <a:p>
            <a:pPr algn="ctr"/>
            <a:r>
              <a:rPr lang="pt-BR" sz="3600" dirty="0"/>
              <a:t>Referência:</a:t>
            </a:r>
          </a:p>
          <a:p>
            <a:pPr algn="ctr"/>
            <a:r>
              <a:rPr lang="pt-BR" sz="3600" dirty="0"/>
              <a:t> </a:t>
            </a:r>
            <a:r>
              <a:rPr lang="pt-BR" sz="3600" dirty="0" err="1"/>
              <a:t>Kurose</a:t>
            </a:r>
            <a:r>
              <a:rPr lang="pt-BR" sz="3600" dirty="0"/>
              <a:t> | Ross Redes de computadores e a internet uma abordagem top-</a:t>
            </a:r>
            <a:r>
              <a:rPr lang="pt-BR" sz="3600" dirty="0" err="1"/>
              <a:t>down</a:t>
            </a:r>
            <a:r>
              <a:rPr lang="pt-BR" sz="3600" dirty="0"/>
              <a:t>.</a:t>
            </a:r>
          </a:p>
        </p:txBody>
      </p:sp>
      <p:sp>
        <p:nvSpPr>
          <p:cNvPr id="10" name="Espaço Reservado para Data 9">
            <a:extLst>
              <a:ext uri="{FF2B5EF4-FFF2-40B4-BE49-F238E27FC236}">
                <a16:creationId xmlns:a16="http://schemas.microsoft.com/office/drawing/2014/main" id="{EE046113-1034-4F4B-8AED-98885E8F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/>
          <a:p>
            <a:pPr rtl="0"/>
            <a:r>
              <a:rPr lang="pt-BR"/>
              <a:t>29/7/20XX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BD5936D-597B-433D-BAF2-72206FEC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/>
          <a:p>
            <a:pPr rtl="0"/>
            <a:r>
              <a:rPr lang="pt-BR"/>
              <a:t>Orientações para os funcionários</a:t>
            </a:r>
          </a:p>
        </p:txBody>
      </p:sp>
      <p:sp>
        <p:nvSpPr>
          <p:cNvPr id="12" name="Espaço Reservado para o Número do Slide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pt-BR" smtClean="0"/>
              <a:pPr rtl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174_TF03460514_Win32.potx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{0D8C07E5-71D0-48AD-8D37-5433AD979A3F}TFb86055d1-6a43-42b6-93a8-3e59ea4e3a70e70c2037_win32-42d4e2da1ee1</Template>
  <TotalTime>129</TotalTime>
  <Words>665</Words>
  <Application>Microsoft Office PowerPoint</Application>
  <PresentationFormat>Widescreen</PresentationFormat>
  <Paragraphs>95</Paragraphs>
  <Slides>12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Calibri</vt:lpstr>
      <vt:lpstr>Skeena</vt:lpstr>
      <vt:lpstr>Times New Roman</vt:lpstr>
      <vt:lpstr>Personalizado</vt:lpstr>
      <vt:lpstr>Comunicação com Sockets TCP</vt:lpstr>
      <vt:lpstr>Socket</vt:lpstr>
      <vt:lpstr>Servidor</vt:lpstr>
      <vt:lpstr>Criando Socket e Conexão (Python)</vt:lpstr>
      <vt:lpstr>Comunicação (Python)</vt:lpstr>
      <vt:lpstr>Na Prática (conexão)</vt:lpstr>
      <vt:lpstr>Na Prática (troca de mensagens)</vt:lpstr>
      <vt:lpstr>Na Prática (bloqueio de cliente)</vt:lpstr>
      <vt:lpstr>Na Prática (fim de conexão)</vt:lpstr>
      <vt:lpstr>Na Prática (liberando fila)</vt:lpstr>
      <vt:lpstr>Na Prática (servidor esperando conexão)</vt:lpstr>
      <vt:lpstr>Obrigado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Cauan Simões da Silva</dc:creator>
  <cp:lastModifiedBy>Cauan Simões da Silva</cp:lastModifiedBy>
  <cp:revision>1</cp:revision>
  <dcterms:created xsi:type="dcterms:W3CDTF">2026-03-28T18:55:51Z</dcterms:created>
  <dcterms:modified xsi:type="dcterms:W3CDTF">2026-03-28T21:05:43Z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